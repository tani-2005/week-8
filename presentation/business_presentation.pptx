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7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nya Deep" userId="9fe6a71afc7307b4" providerId="LiveId" clId="{F3C3E515-2EA8-4E00-A404-E369997E9FDF}"/>
    <pc:docChg chg="custSel addSld delSld modSld">
      <pc:chgData name="Tanya Deep" userId="9fe6a71afc7307b4" providerId="LiveId" clId="{F3C3E515-2EA8-4E00-A404-E369997E9FDF}" dt="2026-02-28T06:08:43.962" v="22" actId="1076"/>
      <pc:docMkLst>
        <pc:docMk/>
      </pc:docMkLst>
      <pc:sldChg chg="modSp mod">
        <pc:chgData name="Tanya Deep" userId="9fe6a71afc7307b4" providerId="LiveId" clId="{F3C3E515-2EA8-4E00-A404-E369997E9FDF}" dt="2026-02-28T06:08:19.733" v="3" actId="1076"/>
        <pc:sldMkLst>
          <pc:docMk/>
          <pc:sldMk cId="0" sldId="275"/>
        </pc:sldMkLst>
        <pc:spChg chg="mod">
          <ac:chgData name="Tanya Deep" userId="9fe6a71afc7307b4" providerId="LiveId" clId="{F3C3E515-2EA8-4E00-A404-E369997E9FDF}" dt="2026-02-28T06:08:19.733" v="3" actId="1076"/>
          <ac:spMkLst>
            <pc:docMk/>
            <pc:sldMk cId="0" sldId="275"/>
            <ac:spMk id="2" creationId="{00000000-0000-0000-0000-000000000000}"/>
          </ac:spMkLst>
        </pc:spChg>
      </pc:sldChg>
      <pc:sldChg chg="del">
        <pc:chgData name="Tanya Deep" userId="9fe6a71afc7307b4" providerId="LiveId" clId="{F3C3E515-2EA8-4E00-A404-E369997E9FDF}" dt="2026-02-28T06:07:56.661" v="0" actId="47"/>
        <pc:sldMkLst>
          <pc:docMk/>
          <pc:sldMk cId="0" sldId="276"/>
        </pc:sldMkLst>
      </pc:sldChg>
      <pc:sldChg chg="addSp delSp modSp new del mod">
        <pc:chgData name="Tanya Deep" userId="9fe6a71afc7307b4" providerId="LiveId" clId="{F3C3E515-2EA8-4E00-A404-E369997E9FDF}" dt="2026-02-28T06:08:28.397" v="7" actId="47"/>
        <pc:sldMkLst>
          <pc:docMk/>
          <pc:sldMk cId="1525841636" sldId="278"/>
        </pc:sldMkLst>
        <pc:spChg chg="add mod">
          <ac:chgData name="Tanya Deep" userId="9fe6a71afc7307b4" providerId="LiveId" clId="{F3C3E515-2EA8-4E00-A404-E369997E9FDF}" dt="2026-02-28T06:08:26.737" v="6" actId="6549"/>
          <ac:spMkLst>
            <pc:docMk/>
            <pc:sldMk cId="1525841636" sldId="278"/>
            <ac:spMk id="2" creationId="{68D003C0-D8A9-55C9-F2F9-B31BE667114B}"/>
          </ac:spMkLst>
        </pc:spChg>
        <pc:spChg chg="add del mod">
          <ac:chgData name="Tanya Deep" userId="9fe6a71afc7307b4" providerId="LiveId" clId="{F3C3E515-2EA8-4E00-A404-E369997E9FDF}" dt="2026-02-28T06:08:23.989" v="5" actId="478"/>
          <ac:spMkLst>
            <pc:docMk/>
            <pc:sldMk cId="1525841636" sldId="278"/>
            <ac:spMk id="3" creationId="{D01956A6-238C-62D7-B4E0-6D2E5D797B93}"/>
          </ac:spMkLst>
        </pc:spChg>
      </pc:sldChg>
      <pc:sldChg chg="modSp new mod">
        <pc:chgData name="Tanya Deep" userId="9fe6a71afc7307b4" providerId="LiveId" clId="{F3C3E515-2EA8-4E00-A404-E369997E9FDF}" dt="2026-02-28T06:08:43.962" v="22" actId="1076"/>
        <pc:sldMkLst>
          <pc:docMk/>
          <pc:sldMk cId="3943705714" sldId="278"/>
        </pc:sldMkLst>
        <pc:spChg chg="mod">
          <ac:chgData name="Tanya Deep" userId="9fe6a71afc7307b4" providerId="LiveId" clId="{F3C3E515-2EA8-4E00-A404-E369997E9FDF}" dt="2026-02-28T06:08:43.962" v="22" actId="1076"/>
          <ac:spMkLst>
            <pc:docMk/>
            <pc:sldMk cId="3943705714" sldId="278"/>
            <ac:spMk id="2" creationId="{6D009D32-9217-81F2-CF1E-F4F8C416634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102240" y="2386744"/>
            <a:ext cx="693952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5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1396" y="4352544"/>
            <a:ext cx="5101209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19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9380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40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106424" y="2386744"/>
            <a:ext cx="6940296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5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1396" y="4352465"/>
            <a:ext cx="5101209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900">
                <a:solidFill>
                  <a:schemeClr val="tx1"/>
                </a:solidFill>
              </a:defRPr>
            </a:lvl1pPr>
            <a:lvl2pPr marL="4572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188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2239" y="2638044"/>
            <a:ext cx="3288023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3737" y="2638044"/>
            <a:ext cx="3290516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927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2239" y="2313434"/>
            <a:ext cx="3288024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2239" y="3143250"/>
            <a:ext cx="3288024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737" y="3143250"/>
            <a:ext cx="3290516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753737" y="2313434"/>
            <a:ext cx="329051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977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95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93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703" y="2243829"/>
            <a:ext cx="3290594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060" y="804672"/>
            <a:ext cx="361188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8"/>
            <a:ext cx="284607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40703" y="6236208"/>
            <a:ext cx="3806398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118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" y="0"/>
            <a:ext cx="4571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080" y="2243828"/>
            <a:ext cx="3291840" cy="1143000"/>
          </a:xfrm>
          <a:solidFill>
            <a:srgbClr val="FFFFFF"/>
          </a:solidFill>
          <a:ln>
            <a:solidFill>
              <a:srgbClr val="262626"/>
            </a:solidFill>
          </a:ln>
        </p:spPr>
        <p:txBody>
          <a:bodyPr anchor="ctr" anchorCtr="1">
            <a:no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-42172"/>
            <a:ext cx="4576573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9"/>
            <a:ext cx="284607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40080" y="6236208"/>
            <a:ext cx="3803904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065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977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9834" y="937260"/>
            <a:ext cx="1053966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6046" y="937260"/>
            <a:ext cx="4716174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5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946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Real World Business Analysis – Capstone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Tanya Deep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Overview</a:t>
            </a:r>
          </a:p>
          <a:p>
            <a:r>
              <a:t>Business Problem &amp; Objectives</a:t>
            </a:r>
          </a:p>
          <a:p>
            <a:r>
              <a:t>Datasets &amp; Methodology</a:t>
            </a:r>
          </a:p>
          <a:p>
            <a:r>
              <a:t>Data Cleaning, EDA, Advanced Analysis</a:t>
            </a:r>
          </a:p>
          <a:p>
            <a:r>
              <a:t>Key Visual Insights (add notebook images)</a:t>
            </a:r>
          </a:p>
          <a:p>
            <a:r>
              <a:t>Recommendations, Roadmap, Risks,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End-to-end data analytics project using real-world datasets</a:t>
            </a:r>
          </a:p>
          <a:p>
            <a:r>
              <a:t>Datasets: Sales Data, Customer Churn Data, House Prices Data</a:t>
            </a:r>
          </a:p>
          <a:p>
            <a:r>
              <a:t>Goal: Convert raw data into actionable business insights</a:t>
            </a:r>
          </a:p>
          <a:p>
            <a:r>
              <a:t>Deliverables: Analysis notebooks, reports, and business 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Organizations generate large datasets but struggle to extract actionable insights</a:t>
            </a:r>
          </a:p>
          <a:p>
            <a:r>
              <a:t>Need to understand drivers of sales performance and customer churn</a:t>
            </a:r>
          </a:p>
          <a:p>
            <a:r>
              <a:t>Identify patterns and relationships to guide data-driven decisions</a:t>
            </a:r>
          </a:p>
          <a:p>
            <a:r>
              <a:t>Translate analysis into practical business strategy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Build a complete data analysis workflow from raw data to recommendations</a:t>
            </a:r>
          </a:p>
          <a:p>
            <a:r>
              <a:t>Apply data cleaning, EDA, and advanced analytical techniques</a:t>
            </a:r>
          </a:p>
          <a:p>
            <a:r>
              <a:t>Create professional visualizations to communicate findings</a:t>
            </a:r>
          </a:p>
          <a:p>
            <a:r>
              <a:t>Provide actionable recommendations and an implementation 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Sales Data: transaction-level pricing and performance metrics</a:t>
            </a:r>
          </a:p>
          <a:p>
            <a:r>
              <a:t>Customer Churn Data: customer attributes and churn indicator</a:t>
            </a:r>
          </a:p>
          <a:p>
            <a:r>
              <a:t>House Prices Data: numerical and categorical housing features</a:t>
            </a:r>
          </a:p>
          <a:p>
            <a:r>
              <a:t>All datasets cleaned and standardized before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Analysis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Raw Data → Data Cleaning → Exploratory Data Analysis (EDA)</a:t>
            </a:r>
          </a:p>
          <a:p>
            <a:r>
              <a:t>Advanced Analysis → Insights → Recommendations → Implementation</a:t>
            </a:r>
          </a:p>
          <a:p>
            <a:r>
              <a:t>Notebooks: 1_data_cleaning.ipynb, 2_eda.ipynb, 3_advanced_analysis.ipynb, capstone_analysis.ipynb</a:t>
            </a:r>
          </a:p>
          <a:p>
            <a:r>
              <a:t>Modular structure supports reproducibility and clarity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Cleaning &amp;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Checked data types, structure, and missing values</a:t>
            </a:r>
          </a:p>
          <a:p>
            <a:r>
              <a:rPr dirty="0"/>
              <a:t>Handled missing values (median for numeric, mode for categorical)</a:t>
            </a:r>
          </a:p>
          <a:p>
            <a:r>
              <a:rPr dirty="0"/>
              <a:t>Removed duplicates and validated data consistency</a:t>
            </a:r>
          </a:p>
          <a:p>
            <a:r>
              <a:rPr dirty="0"/>
              <a:t>Feature engineering performed (e.g., </a:t>
            </a:r>
            <a:r>
              <a:rPr dirty="0" err="1"/>
              <a:t>Total_Sales</a:t>
            </a:r>
            <a:r>
              <a:rPr lang="en-IN" dirty="0"/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Distribution analysis to understand data behavior</a:t>
            </a:r>
          </a:p>
          <a:p>
            <a:r>
              <a:rPr dirty="0"/>
              <a:t>Outlier detection using boxplots</a:t>
            </a:r>
          </a:p>
          <a:p>
            <a:r>
              <a:rPr dirty="0"/>
              <a:t>Correlation analysis using heatmaps</a:t>
            </a:r>
          </a:p>
          <a:p>
            <a:r>
              <a:rPr dirty="0"/>
              <a:t>Trend and relationship analysis using line and scatter plots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55D4A-C87D-8194-A052-DDCE4C891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6E84E-F615-8410-B4CA-367FD1C20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80930F9-DA01-4959-0FE7-DD6E13749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4CE6EAB-4028-64D7-4E84-E1E637DA2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7" y="0"/>
            <a:ext cx="90573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074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Visualization: Correlation Heatmap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63963" y="2423531"/>
            <a:ext cx="5937755" cy="3101983"/>
          </a:xfrm>
        </p:spPr>
        <p:txBody>
          <a:bodyPr/>
          <a:lstStyle/>
          <a:p>
            <a:r>
              <a:rPr dirty="0"/>
              <a:t>Shows relationships between numerical variables</a:t>
            </a:r>
          </a:p>
          <a:p>
            <a:r>
              <a:rPr dirty="0"/>
              <a:t>Helps identify key drivers influencing outcomes</a:t>
            </a:r>
          </a:p>
          <a:p>
            <a:r>
              <a:rPr dirty="0"/>
              <a:t>Example insight: pricing-related features correlate with sales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4E5CF-7FD9-7B5A-533B-EB1BCCC714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778" y="3974522"/>
            <a:ext cx="4258443" cy="260796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Sales Trend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6045" y="2529891"/>
            <a:ext cx="5937755" cy="3101983"/>
          </a:xfrm>
        </p:spPr>
        <p:txBody>
          <a:bodyPr/>
          <a:lstStyle/>
          <a:p>
            <a:r>
              <a:rPr dirty="0"/>
              <a:t>Monthly/periodic trends observed in sales performance</a:t>
            </a:r>
          </a:p>
          <a:p>
            <a:r>
              <a:rPr dirty="0"/>
              <a:t>Identifies high-performing periods and potential seasonality</a:t>
            </a:r>
          </a:p>
          <a:p>
            <a:r>
              <a:rPr dirty="0"/>
              <a:t>Business use: timing promotions and resource allocation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4CBE66-EC2E-56DB-799C-AC29CF683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577" y="3883456"/>
            <a:ext cx="4082845" cy="27772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Churn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6045" y="2411903"/>
            <a:ext cx="5937755" cy="3101983"/>
          </a:xfrm>
        </p:spPr>
        <p:txBody>
          <a:bodyPr/>
          <a:lstStyle/>
          <a:p>
            <a:r>
              <a:rPr dirty="0"/>
              <a:t>Analyzed churn vs non-churn distribution</a:t>
            </a:r>
          </a:p>
          <a:p>
            <a:r>
              <a:rPr dirty="0"/>
              <a:t>Detected potential high-risk customer segments</a:t>
            </a:r>
          </a:p>
          <a:p>
            <a:r>
              <a:rPr dirty="0"/>
              <a:t>Retention strategies can reduce revenue loss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6D13C0-5196-F224-6BB7-6AC311F24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596" y="3731688"/>
            <a:ext cx="4380808" cy="291770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House Price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6045" y="2461065"/>
            <a:ext cx="5937755" cy="3101983"/>
          </a:xfrm>
        </p:spPr>
        <p:txBody>
          <a:bodyPr/>
          <a:lstStyle/>
          <a:p>
            <a:r>
              <a:rPr dirty="0"/>
              <a:t>Explored distribution and variability in house prices</a:t>
            </a:r>
          </a:p>
          <a:p>
            <a:r>
              <a:rPr dirty="0"/>
              <a:t>Identified possible segmentation opportunities</a:t>
            </a:r>
          </a:p>
          <a:p>
            <a:r>
              <a:rPr dirty="0"/>
              <a:t>Insights support pricing and positioning decisions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E86326-A934-0146-13BD-BD02B32E7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994" y="3783207"/>
            <a:ext cx="4346012" cy="27994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 Analysis &amp;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6045" y="2470896"/>
            <a:ext cx="5937755" cy="3101983"/>
          </a:xfrm>
        </p:spPr>
        <p:txBody>
          <a:bodyPr/>
          <a:lstStyle/>
          <a:p>
            <a:r>
              <a:rPr dirty="0"/>
              <a:t>KPIs: Total Revenue, Average Sales, Max Sale, Churn Rate, Average Price</a:t>
            </a:r>
          </a:p>
          <a:p>
            <a:r>
              <a:rPr dirty="0"/>
              <a:t>Statistical validation and segment analysis performed</a:t>
            </a:r>
          </a:p>
          <a:p>
            <a:r>
              <a:rPr dirty="0"/>
              <a:t>Relationships between features analyzed to support decision-making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818024-3183-25C7-4A81-584041C4F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393" y="4255250"/>
            <a:ext cx="3659214" cy="239512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Insights (Summary)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Pricing strongly influences revenue outcomes</a:t>
            </a:r>
          </a:p>
          <a:p>
            <a:r>
              <a:t>Customer churn patterns are identifiable and actionable</a:t>
            </a:r>
          </a:p>
          <a:p>
            <a:r>
              <a:t>Correlations reveal influential business variables</a:t>
            </a:r>
          </a:p>
          <a:p>
            <a:r>
              <a:t>Segment differences highlight targeted optimization opportunities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Optimize pricing strategy based on analysis findings</a:t>
            </a:r>
          </a:p>
          <a:p>
            <a:r>
              <a:t>Launch targeted customer retention programs</a:t>
            </a:r>
          </a:p>
          <a:p>
            <a:r>
              <a:t>Focus investment on high-performing segments and periods</a:t>
            </a:r>
          </a:p>
          <a:p>
            <a:r>
              <a:t>Monitor KPIs regularly and adjust strategies iteratively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Month 1: Deploy pricing changes and KPI tracking</a:t>
            </a:r>
          </a:p>
          <a:p>
            <a:r>
              <a:t>Month 2: Execute retention initiatives and monitor metrics</a:t>
            </a:r>
          </a:p>
          <a:p>
            <a:r>
              <a:t>Month 3: Evaluate impact and refine strategy</a:t>
            </a:r>
          </a:p>
          <a:p>
            <a:r>
              <a:t>Ongoing: Continuous monitoring and data-driven improvements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 &amp;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Results depend on available dataset features and quality</a:t>
            </a:r>
          </a:p>
          <a:p>
            <a:r>
              <a:t>External factors not included may influence outcomes</a:t>
            </a:r>
          </a:p>
          <a:p>
            <a:r>
              <a:t>Further predictive modeling could improve forecasting</a:t>
            </a:r>
          </a:p>
          <a:p>
            <a:r>
              <a:t>Recommendations should be validated with real business data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Improved decision-making through data-driven insights</a:t>
            </a:r>
          </a:p>
          <a:p>
            <a:r>
              <a:t>Potential revenue optimization via pricing strategy</a:t>
            </a:r>
          </a:p>
          <a:p>
            <a:r>
              <a:t>Reduced churn through targeted retention actions</a:t>
            </a:r>
          </a:p>
          <a:p>
            <a:r>
              <a:t>Structured workflow enables repeatable analytics process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3122" y="846705"/>
            <a:ext cx="5937755" cy="1188720"/>
          </a:xfrm>
        </p:spPr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Completed an end-to-end business analysis workflow</a:t>
            </a:r>
          </a:p>
          <a:p>
            <a:r>
              <a:t>Combined technical analysis with business storytelling</a:t>
            </a:r>
          </a:p>
          <a:p>
            <a:r>
              <a:t>Generated actionable recommendations from real data</a:t>
            </a:r>
          </a:p>
          <a:p>
            <a:r>
              <a:t>Project demonstrates portfolio-ready analytics skills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09D32-9217-81F2-CF1E-F4F8C4166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3122" y="2834640"/>
            <a:ext cx="5937755" cy="1188720"/>
          </a:xfrm>
        </p:spPr>
        <p:txBody>
          <a:bodyPr/>
          <a:lstStyle/>
          <a:p>
            <a:r>
              <a:rPr lang="en-IN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943705714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29</TotalTime>
  <Words>608</Words>
  <Application>Microsoft Office PowerPoint</Application>
  <PresentationFormat>On-screen Show (4:3)</PresentationFormat>
  <Paragraphs>95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Gill Sans MT</vt:lpstr>
      <vt:lpstr>Parcel</vt:lpstr>
      <vt:lpstr>Real World Business Analysis – Capstone Project</vt:lpstr>
      <vt:lpstr>Agenda</vt:lpstr>
      <vt:lpstr>Project Overview</vt:lpstr>
      <vt:lpstr>Business Problem</vt:lpstr>
      <vt:lpstr>Project Objectives</vt:lpstr>
      <vt:lpstr>Datasets Used</vt:lpstr>
      <vt:lpstr>Analysis Workflow</vt:lpstr>
      <vt:lpstr>Data Cleaning &amp; Preparation</vt:lpstr>
      <vt:lpstr>EDA Overview</vt:lpstr>
      <vt:lpstr>PowerPoint Presentation</vt:lpstr>
      <vt:lpstr>Key Visualization: Correlation Heatmap</vt:lpstr>
      <vt:lpstr>Sales Trend Analysis</vt:lpstr>
      <vt:lpstr>Customer Churn Analysis</vt:lpstr>
      <vt:lpstr>House Price Analysis</vt:lpstr>
      <vt:lpstr>Advanced Analysis &amp; KPIs</vt:lpstr>
      <vt:lpstr>Key Insights (Summary)</vt:lpstr>
      <vt:lpstr>Business Recommendations</vt:lpstr>
      <vt:lpstr>Implementation Roadmap</vt:lpstr>
      <vt:lpstr>Risks &amp; Limitations</vt:lpstr>
      <vt:lpstr>Business Impact</vt:lpstr>
      <vt:lpstr>Conclusion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Tanya Deep</cp:lastModifiedBy>
  <cp:revision>2</cp:revision>
  <dcterms:created xsi:type="dcterms:W3CDTF">2013-01-27T09:14:16Z</dcterms:created>
  <dcterms:modified xsi:type="dcterms:W3CDTF">2026-02-28T06:08:50Z</dcterms:modified>
  <cp:category/>
</cp:coreProperties>
</file>